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9" r:id="rId4"/>
    <p:sldId id="270" r:id="rId5"/>
    <p:sldId id="257" r:id="rId6"/>
    <p:sldId id="271" r:id="rId7"/>
    <p:sldId id="272" r:id="rId8"/>
    <p:sldId id="258" r:id="rId9"/>
    <p:sldId id="259" r:id="rId10"/>
    <p:sldId id="267" r:id="rId11"/>
  </p:sldIdLst>
  <p:sldSz cx="12192000" cy="6858000"/>
  <p:notesSz cx="6858000" cy="9144000"/>
  <p:embeddedFontLst>
    <p:embeddedFont>
      <p:font typeface="Aref Ruqaa" panose="02000503000000000000" pitchFamily="2" charset="-78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11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F2B3610F-1FAD-6241-0F2B-304AEA56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0EAD6D6D-6124-11BD-2FBF-A9E9149D4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B1D38D18-8535-1F63-E2E2-CB2449D50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2521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39049AB2-80CE-5093-260F-63DC0F73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4D765AD1-2B79-49DD-0111-FD886D0D7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939C2A98-5587-033D-1C68-B58AAE055A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458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7A3404AD-6D8E-8A21-3D21-351D3AA8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3BB1364C-F1C4-B14B-4F6B-83A8A43B21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E2D0BB7D-0AD5-8394-E982-5E02890B7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1522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7537AFC9-897A-1538-F553-18FBFECA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2D6259A7-DAE1-D624-37DD-7C283BFAB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FB027B7C-6749-989F-BCFE-037AA041E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7756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3CFC6897-EC47-9B8D-03D5-2721FC5A1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F5C31801-69B7-6474-AF50-D9738BF79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274FAC8C-2FF3-EBFB-60BF-88C80B6A2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8738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8210F5-8E2F-E574-7C7F-1D522E706E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452338" y="6171097"/>
            <a:ext cx="735629" cy="735629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linkedin.com/in/abdalrhmanmoha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08" name="Google Shape;108;p1"/>
          <p:cNvSpPr txBox="1"/>
          <p:nvPr/>
        </p:nvSpPr>
        <p:spPr>
          <a:xfrm>
            <a:off x="971365" y="1093629"/>
            <a:ext cx="708890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Super Sales Dashboard</a:t>
            </a:r>
            <a:endParaRPr dirty="0"/>
          </a:p>
        </p:txBody>
      </p:sp>
      <p:sp>
        <p:nvSpPr>
          <p:cNvPr id="109" name="Google Shape;109;p1"/>
          <p:cNvSpPr txBox="1"/>
          <p:nvPr/>
        </p:nvSpPr>
        <p:spPr>
          <a:xfrm>
            <a:off x="971364" y="1563226"/>
            <a:ext cx="10382435" cy="435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Driving Sales Excellence through Data Insights </a:t>
            </a:r>
            <a:endParaRPr lang="ar-EG" sz="2000" dirty="0"/>
          </a:p>
          <a:p>
            <a:r>
              <a:rPr lang="en-US" sz="2000" dirty="0"/>
              <a:t>Optimizing Sales Operations, Supply Chain, and Customer Loyalty</a:t>
            </a:r>
          </a:p>
          <a:p>
            <a:r>
              <a:rPr lang="en-US" sz="2000" b="1" dirty="0"/>
              <a:t>Team:</a:t>
            </a:r>
            <a:r>
              <a:rPr lang="en-US" sz="2000" dirty="0"/>
              <a:t> </a:t>
            </a:r>
            <a:r>
              <a:rPr lang="en-US" sz="2000" b="1" dirty="0"/>
              <a:t>Lone Wolf</a:t>
            </a:r>
            <a:endParaRPr lang="ar-EG" sz="2000" dirty="0"/>
          </a:p>
          <a:p>
            <a:r>
              <a:rPr lang="en-US" sz="2000" b="1" dirty="0"/>
              <a:t>Date:</a:t>
            </a:r>
            <a:r>
              <a:rPr lang="ar-EG" sz="2000" b="1" dirty="0"/>
              <a:t> </a:t>
            </a:r>
            <a:r>
              <a:rPr lang="en-US" sz="2000" b="1" dirty="0"/>
              <a:t>19 Nov 2025</a:t>
            </a:r>
            <a:endParaRPr lang="ar-EG" sz="2000" b="1" dirty="0"/>
          </a:p>
          <a:p>
            <a:r>
              <a:rPr lang="en-US" sz="2000" b="1" dirty="0"/>
              <a:t>Presented By: Abdalrhman Mohamed Khairy Abdullah</a:t>
            </a:r>
            <a:endParaRPr lang="en-US" sz="2000" dirty="0"/>
          </a:p>
        </p:txBody>
      </p:sp>
      <p:pic>
        <p:nvPicPr>
          <p:cNvPr id="110" name="Google Shape;110;p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470C19C-2507-F773-68F6-C800AA2F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4D19D364-4817-1E08-30E5-8D58FEAC5BD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2B8E996B-B9A4-2877-38FE-EE3806B59A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8" name="Google Shape;108;p1">
            <a:extLst>
              <a:ext uri="{FF2B5EF4-FFF2-40B4-BE49-F238E27FC236}">
                <a16:creationId xmlns:a16="http://schemas.microsoft.com/office/drawing/2014/main" id="{C1FF0D65-6A1A-027D-932A-80F25AA1A61B}"/>
              </a:ext>
            </a:extLst>
          </p:cNvPr>
          <p:cNvSpPr txBox="1"/>
          <p:nvPr/>
        </p:nvSpPr>
        <p:spPr>
          <a:xfrm>
            <a:off x="971365" y="1093629"/>
            <a:ext cx="69760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/>
              <a:t>Presentation Agenda</a:t>
            </a:r>
          </a:p>
        </p:txBody>
      </p:sp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3567CEF1-20F7-C539-301E-31B734006C1B}"/>
              </a:ext>
            </a:extLst>
          </p:cNvPr>
          <p:cNvSpPr txBox="1"/>
          <p:nvPr/>
        </p:nvSpPr>
        <p:spPr>
          <a:xfrm>
            <a:off x="971365" y="1727683"/>
            <a:ext cx="10382435" cy="435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dirty="0"/>
              <a:t>Project Overview &amp; Problem Statement</a:t>
            </a:r>
          </a:p>
          <a:p>
            <a:r>
              <a:rPr lang="en-US" sz="2000" dirty="0"/>
              <a:t>Project Goals &amp; Objectives</a:t>
            </a:r>
          </a:p>
          <a:p>
            <a:r>
              <a:rPr lang="en-US" sz="2000" dirty="0"/>
              <a:t>Data &amp; Methodology</a:t>
            </a:r>
          </a:p>
          <a:p>
            <a:r>
              <a:rPr lang="en-US" sz="2000" dirty="0"/>
              <a:t>Key Findings &amp; Dashboard Walkthrough</a:t>
            </a:r>
          </a:p>
          <a:p>
            <a:r>
              <a:rPr lang="en-US" sz="2000" dirty="0"/>
              <a:t>Actionable Recommendations</a:t>
            </a:r>
          </a:p>
          <a:p>
            <a:r>
              <a:rPr lang="en-US" sz="2000" dirty="0"/>
              <a:t>Expected Outcomes &amp; Benefits</a:t>
            </a:r>
          </a:p>
          <a:p>
            <a:r>
              <a:rPr lang="en-US" sz="2000" dirty="0"/>
              <a:t>Q&amp;A</a:t>
            </a:r>
          </a:p>
        </p:txBody>
      </p:sp>
      <p:pic>
        <p:nvPicPr>
          <p:cNvPr id="110" name="Google Shape;110;p1" title="download.png">
            <a:extLst>
              <a:ext uri="{FF2B5EF4-FFF2-40B4-BE49-F238E27FC236}">
                <a16:creationId xmlns:a16="http://schemas.microsoft.com/office/drawing/2014/main" id="{ADDC7EEA-15E8-86A3-AA65-EB376E8FF1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933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F56DA0-9C3B-670C-2AC4-D2D794EB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51E4C224-D72A-3E55-863D-C67B1EE6FD20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46338F4F-DADE-0F47-4BC7-2B261683C3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sp>
        <p:nvSpPr>
          <p:cNvPr id="108" name="Google Shape;108;p1">
            <a:extLst>
              <a:ext uri="{FF2B5EF4-FFF2-40B4-BE49-F238E27FC236}">
                <a16:creationId xmlns:a16="http://schemas.microsoft.com/office/drawing/2014/main" id="{C0EE6DA3-01EA-C581-5A9E-B5E3981F6774}"/>
              </a:ext>
            </a:extLst>
          </p:cNvPr>
          <p:cNvSpPr txBox="1"/>
          <p:nvPr/>
        </p:nvSpPr>
        <p:spPr>
          <a:xfrm>
            <a:off x="971365" y="1093629"/>
            <a:ext cx="99675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/>
              <a:t>Project Overview: Transforming Sales Data into Actionable Intelligence</a:t>
            </a:r>
          </a:p>
        </p:txBody>
      </p:sp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36B69457-1741-568B-01C3-380D9E8E9E01}"/>
              </a:ext>
            </a:extLst>
          </p:cNvPr>
          <p:cNvSpPr txBox="1"/>
          <p:nvPr/>
        </p:nvSpPr>
        <p:spPr>
          <a:xfrm>
            <a:off x="971364" y="1563226"/>
            <a:ext cx="10382435" cy="435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000" b="1" dirty="0"/>
              <a:t>Key Points:</a:t>
            </a:r>
            <a:endParaRPr lang="en-US" sz="2000" dirty="0"/>
          </a:p>
          <a:p>
            <a:r>
              <a:rPr lang="en-US" sz="2000" dirty="0"/>
              <a:t>This project delivers the "Super Sales Dashboard," a robust Power BI solution.</a:t>
            </a:r>
          </a:p>
          <a:p>
            <a:r>
              <a:rPr lang="en-US" sz="2000" dirty="0"/>
              <a:t>The solution is designed to provide comprehensive, real-time insights into sales performance and logistics.</a:t>
            </a:r>
          </a:p>
          <a:p>
            <a:r>
              <a:rPr lang="en-US" sz="2000" b="1" dirty="0"/>
              <a:t>Core Problem:</a:t>
            </a:r>
            <a:r>
              <a:rPr lang="en-US" sz="2000" dirty="0"/>
              <a:t> Sales operations currently suffer from </a:t>
            </a:r>
            <a:r>
              <a:rPr lang="en-US" sz="2000" b="1" dirty="0"/>
              <a:t>inefficient marketing allocation</a:t>
            </a:r>
            <a:r>
              <a:rPr lang="en-US" sz="2000" dirty="0"/>
              <a:t>, </a:t>
            </a:r>
            <a:r>
              <a:rPr lang="en-US" sz="2000" b="1" dirty="0"/>
              <a:t>prolonged shipping times (Avg. 4 days)</a:t>
            </a:r>
            <a:r>
              <a:rPr lang="en-US" sz="2000" dirty="0"/>
              <a:t>, and a lack of formalized </a:t>
            </a:r>
            <a:r>
              <a:rPr lang="en-US" sz="2000" b="1" dirty="0"/>
              <a:t>VIP customer retention strategies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Goal:</a:t>
            </a:r>
            <a:r>
              <a:rPr lang="en-US" sz="2000" dirty="0"/>
              <a:t> To convert raw sales transaction data (</a:t>
            </a:r>
            <a:r>
              <a:rPr lang="en-US" dirty="0"/>
              <a:t>SSD.csv</a:t>
            </a:r>
            <a:r>
              <a:rPr lang="en-US" sz="2000" dirty="0"/>
              <a:t>) into strategic insights that drive measurable efficiency and profitability.</a:t>
            </a:r>
          </a:p>
        </p:txBody>
      </p:sp>
      <p:pic>
        <p:nvPicPr>
          <p:cNvPr id="110" name="Google Shape;110;p1" title="download.png">
            <a:extLst>
              <a:ext uri="{FF2B5EF4-FFF2-40B4-BE49-F238E27FC236}">
                <a16:creationId xmlns:a16="http://schemas.microsoft.com/office/drawing/2014/main" id="{E8766050-01D2-6D2B-08BF-6C68B0F0F2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8119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A6B7F1-4DB3-FC8B-F625-435756F0B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B92AA920-6D94-8788-E20E-EBBF23EAC25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DC75D502-9EDD-0F01-1030-17AA9A42F4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08" name="Google Shape;108;p1">
            <a:extLst>
              <a:ext uri="{FF2B5EF4-FFF2-40B4-BE49-F238E27FC236}">
                <a16:creationId xmlns:a16="http://schemas.microsoft.com/office/drawing/2014/main" id="{CE9E4592-C9E6-72E2-2F51-9A955FC2E899}"/>
              </a:ext>
            </a:extLst>
          </p:cNvPr>
          <p:cNvSpPr txBox="1"/>
          <p:nvPr/>
        </p:nvSpPr>
        <p:spPr>
          <a:xfrm>
            <a:off x="971365" y="1093629"/>
            <a:ext cx="923379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Current Business Challenges: Analyzing Operational Bottlenecks</a:t>
            </a:r>
            <a:endParaRPr dirty="0"/>
          </a:p>
        </p:txBody>
      </p:sp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0674CE53-B485-3EB0-BBEB-1E4D41904FA5}"/>
              </a:ext>
            </a:extLst>
          </p:cNvPr>
          <p:cNvSpPr txBox="1"/>
          <p:nvPr/>
        </p:nvSpPr>
        <p:spPr>
          <a:xfrm>
            <a:off x="971364" y="1563226"/>
            <a:ext cx="10382435" cy="4359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b="1" dirty="0"/>
              <a:t>Key Challenges:</a:t>
            </a:r>
            <a:endParaRPr lang="en-US" sz="1800" dirty="0"/>
          </a:p>
          <a:p>
            <a:r>
              <a:rPr lang="en-US" sz="1800" b="1" dirty="0"/>
              <a:t>Supply Chain Constraint (Logistics):</a:t>
            </a:r>
            <a:endParaRPr lang="en-US" sz="1800" dirty="0"/>
          </a:p>
          <a:p>
            <a:pPr lvl="1"/>
            <a:r>
              <a:rPr lang="en-US" sz="1800" b="1" dirty="0"/>
              <a:t>Impact:</a:t>
            </a:r>
            <a:r>
              <a:rPr lang="en-US" sz="1800" dirty="0"/>
              <a:t> Average shipping time is </a:t>
            </a:r>
            <a:r>
              <a:rPr lang="en-US" sz="1800" b="1" dirty="0"/>
              <a:t>4 days</a:t>
            </a:r>
            <a:r>
              <a:rPr lang="en-US" sz="1800" dirty="0"/>
              <a:t>, calculated from Order Date vs. Ship Date, leading to customer dissatisfaction.</a:t>
            </a:r>
          </a:p>
          <a:p>
            <a:pPr lvl="1"/>
            <a:r>
              <a:rPr lang="en-US" sz="1800" b="1" dirty="0"/>
              <a:t>Constraint:</a:t>
            </a:r>
            <a:r>
              <a:rPr lang="en-US" sz="1800" dirty="0"/>
              <a:t> Need to identify the slowest </a:t>
            </a:r>
            <a:r>
              <a:rPr lang="en-US" sz="1800" b="1" dirty="0"/>
              <a:t>Ship Mode</a:t>
            </a:r>
            <a:r>
              <a:rPr lang="en-US" sz="1800" dirty="0"/>
              <a:t> for immediate intervention.</a:t>
            </a:r>
          </a:p>
          <a:p>
            <a:r>
              <a:rPr lang="en-US" sz="1800" b="1" dirty="0"/>
              <a:t>Geographical Efficiency Gap:</a:t>
            </a:r>
            <a:endParaRPr lang="en-US" sz="1800" dirty="0"/>
          </a:p>
          <a:p>
            <a:pPr lvl="1"/>
            <a:r>
              <a:rPr lang="en-US" sz="1800" b="1" dirty="0"/>
              <a:t>Impact:</a:t>
            </a:r>
            <a:r>
              <a:rPr lang="en-US" sz="1800" dirty="0"/>
              <a:t> Uneven Sales performance across Region; the </a:t>
            </a:r>
            <a:r>
              <a:rPr lang="en-US" sz="1800" b="1" dirty="0"/>
              <a:t>South region</a:t>
            </a:r>
            <a:r>
              <a:rPr lang="en-US" sz="1800" dirty="0"/>
              <a:t> registers significantly lower sales than the West.</a:t>
            </a:r>
          </a:p>
          <a:p>
            <a:pPr lvl="1"/>
            <a:r>
              <a:rPr lang="en-US" sz="1800" b="1" dirty="0"/>
              <a:t>Constraint:</a:t>
            </a:r>
            <a:r>
              <a:rPr lang="en-US" sz="1800" dirty="0"/>
              <a:t> Inefficient marketing spend requiring reallocation.</a:t>
            </a:r>
          </a:p>
          <a:p>
            <a:r>
              <a:rPr lang="en-US" sz="1800" b="1" dirty="0"/>
              <a:t>Customer Loyalty Risk:</a:t>
            </a:r>
            <a:endParaRPr lang="en-US" sz="1800" dirty="0"/>
          </a:p>
          <a:p>
            <a:pPr lvl="1"/>
            <a:r>
              <a:rPr lang="en-US" sz="1800" b="1" dirty="0"/>
              <a:t>Impact:</a:t>
            </a:r>
            <a:r>
              <a:rPr lang="en-US" sz="1800" dirty="0"/>
              <a:t> Opportunity loss due to failure to track and reward high-value customers.</a:t>
            </a:r>
          </a:p>
          <a:p>
            <a:pPr lvl="1"/>
            <a:r>
              <a:rPr lang="en-US" sz="1800" b="1" dirty="0"/>
              <a:t>Data Insight:</a:t>
            </a:r>
            <a:r>
              <a:rPr lang="en-US" sz="1800" dirty="0"/>
              <a:t> Needs segmentation using Customer ID and aggregated Sales.</a:t>
            </a:r>
          </a:p>
          <a:p>
            <a:r>
              <a:rPr lang="en-US" sz="1800" b="1" dirty="0"/>
              <a:t>Product/AOV Opportunity:</a:t>
            </a:r>
            <a:endParaRPr lang="en-US" sz="1800" dirty="0"/>
          </a:p>
          <a:p>
            <a:pPr lvl="1"/>
            <a:r>
              <a:rPr lang="en-US" sz="1800" b="1" dirty="0"/>
              <a:t>Impact:</a:t>
            </a:r>
            <a:r>
              <a:rPr lang="en-US" sz="1800" dirty="0"/>
              <a:t> Need to strategically boost Average Order Value (AOV) by focusing on high-margin Category sales.</a:t>
            </a:r>
          </a:p>
        </p:txBody>
      </p:sp>
      <p:pic>
        <p:nvPicPr>
          <p:cNvPr id="110" name="Google Shape;110;p1" title="download.png">
            <a:extLst>
              <a:ext uri="{FF2B5EF4-FFF2-40B4-BE49-F238E27FC236}">
                <a16:creationId xmlns:a16="http://schemas.microsoft.com/office/drawing/2014/main" id="{FC7256CE-DF8C-0B3A-29B9-FCC5DD3B5BE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63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Project Goals &amp; Objectives: Our Roadmap to Sales Excellence</a:t>
            </a: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/>
              <a:t>Overarching Goal:</a:t>
            </a:r>
            <a:endParaRPr lang="en-US" sz="2000" dirty="0"/>
          </a:p>
          <a:p>
            <a:r>
              <a:rPr lang="en-US" sz="2000" dirty="0"/>
              <a:t>To significantly enhance sales operational efficiency and customer satisfaction by reducing average shipping time to </a:t>
            </a:r>
            <a:r>
              <a:rPr lang="en-US" sz="2000" b="1" dirty="0"/>
              <a:t>&lt; 3 days</a:t>
            </a:r>
            <a:r>
              <a:rPr lang="en-US" sz="2000" dirty="0"/>
              <a:t> and optimizing regional marketing spend.</a:t>
            </a:r>
          </a:p>
          <a:p>
            <a:r>
              <a:rPr lang="en-US" sz="2000" b="1" dirty="0"/>
              <a:t>Specific Objectives (SMART):</a:t>
            </a:r>
            <a:endParaRPr lang="en-US" sz="2000" dirty="0"/>
          </a:p>
          <a:p>
            <a:r>
              <a:rPr lang="en-US" sz="2000" b="1" dirty="0"/>
              <a:t>Reduce Shipping Time:</a:t>
            </a:r>
            <a:r>
              <a:rPr lang="en-US" sz="2000" dirty="0"/>
              <a:t> Analyze </a:t>
            </a:r>
            <a:r>
              <a:rPr lang="en-US" dirty="0"/>
              <a:t>Ship Mode</a:t>
            </a:r>
            <a:r>
              <a:rPr lang="en-US" sz="2000" dirty="0"/>
              <a:t> to cut average shipping time by 25%.</a:t>
            </a:r>
          </a:p>
          <a:p>
            <a:r>
              <a:rPr lang="en-US" sz="2000" b="1" dirty="0"/>
              <a:t>Optimize Marketing Spend:</a:t>
            </a:r>
            <a:r>
              <a:rPr lang="en-US" sz="2000" dirty="0"/>
              <a:t> Reallocate resources from the </a:t>
            </a:r>
            <a:r>
              <a:rPr lang="en-US" sz="2000" b="1" dirty="0"/>
              <a:t>South region</a:t>
            </a:r>
            <a:r>
              <a:rPr lang="en-US" sz="2000" dirty="0"/>
              <a:t> to high-impact areas (e.g., Technology category).</a:t>
            </a:r>
          </a:p>
          <a:p>
            <a:r>
              <a:rPr lang="en-US" sz="2000" b="1" dirty="0"/>
              <a:t>Boost AOV:</a:t>
            </a:r>
            <a:r>
              <a:rPr lang="en-US" sz="2000" dirty="0"/>
              <a:t> Leverage </a:t>
            </a:r>
            <a:r>
              <a:rPr lang="en-US" dirty="0"/>
              <a:t>Category</a:t>
            </a:r>
            <a:r>
              <a:rPr lang="en-US" sz="2000" dirty="0"/>
              <a:t> and </a:t>
            </a:r>
            <a:r>
              <a:rPr lang="en-US" dirty="0"/>
              <a:t>Sub-Category</a:t>
            </a:r>
            <a:r>
              <a:rPr lang="en-US" sz="2000" dirty="0"/>
              <a:t> insights to implement up-selling strategies.</a:t>
            </a:r>
          </a:p>
          <a:p>
            <a:r>
              <a:rPr lang="en-US" sz="2000" b="1" dirty="0"/>
              <a:t>Enhance Customer Retention:</a:t>
            </a:r>
            <a:r>
              <a:rPr lang="en-US" sz="2000" dirty="0"/>
              <a:t> Formalize a strategy to identify and engage </a:t>
            </a:r>
            <a:r>
              <a:rPr lang="en-US" sz="2000" b="1" dirty="0"/>
              <a:t>VIP customers</a:t>
            </a:r>
            <a:r>
              <a:rPr lang="en-US" sz="2000" dirty="0"/>
              <a:t> (top spenders).</a:t>
            </a:r>
          </a:p>
          <a:p>
            <a:r>
              <a:rPr lang="en-US" sz="2000" b="1" dirty="0"/>
              <a:t>Provide Real-Time Insights:</a:t>
            </a:r>
            <a:r>
              <a:rPr lang="en-US" sz="2000" dirty="0"/>
              <a:t> Deliver a unified, interactive dashboard for agile, data-driven management.</a:t>
            </a:r>
          </a:p>
        </p:txBody>
      </p:sp>
      <p:pic>
        <p:nvPicPr>
          <p:cNvPr id="120" name="Google Shape;120;p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6EC053F-FFEB-4232-46DD-7D7D7F61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6BBADCDB-D52B-C5BF-5F4F-4C8EB21E149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31C33C2-A54B-1D8D-4D26-3E2693C1DF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BAF0342D-3DDF-9182-1820-66F65E7A06E2}"/>
              </a:ext>
            </a:extLst>
          </p:cNvPr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Data &amp; Methodology</a:t>
            </a: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235D3D89-6317-A535-EFBE-C5031472CA4E}"/>
              </a:ext>
            </a:extLst>
          </p:cNvPr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1800" dirty="0"/>
              <a:t>Data &amp; Methodology: Our Analytical Approach</a:t>
            </a:r>
          </a:p>
          <a:p>
            <a:r>
              <a:rPr lang="en-US" sz="1800" b="1" dirty="0"/>
              <a:t>1. Data Sources:</a:t>
            </a:r>
            <a:endParaRPr lang="en-US" sz="1800" dirty="0"/>
          </a:p>
          <a:p>
            <a:r>
              <a:rPr lang="en-US" sz="1800" b="1" dirty="0"/>
              <a:t>Primary:</a:t>
            </a:r>
            <a:r>
              <a:rPr lang="en-US" sz="1800" dirty="0"/>
              <a:t> SSD.csv (Detailed transactional data).</a:t>
            </a:r>
          </a:p>
          <a:p>
            <a:r>
              <a:rPr lang="en-US" sz="1800" b="1" dirty="0"/>
              <a:t>Key Fields Utilized:</a:t>
            </a:r>
            <a:r>
              <a:rPr lang="en-US" sz="1800" dirty="0"/>
              <a:t> Order Date, Ship Date, Sales, Customer ID, Region, Category.</a:t>
            </a:r>
          </a:p>
          <a:p>
            <a:r>
              <a:rPr lang="en-US" sz="1800" b="1" dirty="0"/>
              <a:t>2. Tools Utilized:</a:t>
            </a:r>
            <a:endParaRPr lang="en-US" sz="1800" dirty="0"/>
          </a:p>
          <a:p>
            <a:r>
              <a:rPr lang="en-US" sz="1800" b="1" dirty="0"/>
              <a:t>Data Processing:</a:t>
            </a:r>
            <a:r>
              <a:rPr lang="en-US" sz="1800" dirty="0"/>
              <a:t> Python (Pandas) for calculating Shipping Duration.</a:t>
            </a:r>
          </a:p>
          <a:p>
            <a:r>
              <a:rPr lang="en-US" sz="1800" b="1" dirty="0"/>
              <a:t>Dashboard Development:</a:t>
            </a:r>
            <a:r>
              <a:rPr lang="en-US" sz="1800" dirty="0"/>
              <a:t> Power BI for visualization and modeling.</a:t>
            </a:r>
          </a:p>
          <a:p>
            <a:r>
              <a:rPr lang="en-US" sz="1800" b="1" dirty="0"/>
              <a:t>3. Methodology (Adapted for Sales Data):</a:t>
            </a:r>
            <a:endParaRPr lang="en-US" sz="1800" dirty="0"/>
          </a:p>
          <a:p>
            <a:r>
              <a:rPr lang="en-US" sz="1800" b="1" dirty="0"/>
              <a:t>Data Preparation:</a:t>
            </a:r>
            <a:r>
              <a:rPr lang="en-US" sz="1800" dirty="0"/>
              <a:t> Calculation of derived measures (e.g., Shipping Duration) and validation of data integrity.</a:t>
            </a:r>
          </a:p>
          <a:p>
            <a:r>
              <a:rPr lang="en-US" sz="1800" b="1" dirty="0"/>
              <a:t>Modeling:</a:t>
            </a:r>
            <a:r>
              <a:rPr lang="en-US" sz="1800" dirty="0"/>
              <a:t> Building a Star Schema that links the Sales Fact Table to Customer, Product, and Date Dimensions.</a:t>
            </a:r>
          </a:p>
          <a:p>
            <a:r>
              <a:rPr lang="en-US" sz="1800" b="1" dirty="0"/>
              <a:t>Analysis &amp; Visualization:</a:t>
            </a:r>
            <a:r>
              <a:rPr lang="en-US" sz="1800" dirty="0"/>
              <a:t> Developing visualizations that highlight geographical variances and temporal efficiency gaps.</a:t>
            </a:r>
          </a:p>
          <a:p>
            <a:r>
              <a:rPr lang="en-US" sz="1800" b="1" dirty="0"/>
              <a:t>Deployment:</a:t>
            </a:r>
            <a:r>
              <a:rPr lang="en-US" sz="1800" dirty="0"/>
              <a:t> Finalizing the Power BI dashboard for organization-wide access.</a:t>
            </a:r>
          </a:p>
        </p:txBody>
      </p:sp>
      <p:pic>
        <p:nvPicPr>
          <p:cNvPr id="120" name="Google Shape;120;p2" title="download.png">
            <a:extLst>
              <a:ext uri="{FF2B5EF4-FFF2-40B4-BE49-F238E27FC236}">
                <a16:creationId xmlns:a16="http://schemas.microsoft.com/office/drawing/2014/main" id="{7FC96416-2E0A-1D59-51CE-69FE462BA0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2414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B69A2BD-FF3A-B154-2520-BC5CF5513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A800D5AD-0C57-D038-B6F8-D43B9C8B10D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9C4BBCCE-377A-D2D7-5853-B43DABF5D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B226CECC-46C6-2A87-C373-00B7B2BA2797}"/>
              </a:ext>
            </a:extLst>
          </p:cNvPr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Key Findings: Data-Driven Insights from the Super Sales Dashboard</a:t>
            </a: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771D4D85-08A5-728C-956F-9834073D2021}"/>
              </a:ext>
            </a:extLst>
          </p:cNvPr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/>
              <a:t>Conceptual Dashboard View Highlights:</a:t>
            </a:r>
            <a:endParaRPr lang="en-US" sz="2000" dirty="0"/>
          </a:p>
          <a:p>
            <a:r>
              <a:rPr lang="en-US" sz="2000" b="1" dirty="0"/>
              <a:t>Geographical Performance Map:</a:t>
            </a:r>
            <a:r>
              <a:rPr lang="en-US" sz="2000" dirty="0"/>
              <a:t> Visually confirms that the </a:t>
            </a:r>
            <a:r>
              <a:rPr lang="en-US" sz="2000" b="1" dirty="0"/>
              <a:t>South region</a:t>
            </a:r>
            <a:r>
              <a:rPr lang="en-US" sz="2000" dirty="0"/>
              <a:t> registers the lowest aggregate </a:t>
            </a:r>
            <a:r>
              <a:rPr lang="en-US" dirty="0"/>
              <a:t>Sales</a:t>
            </a:r>
            <a:r>
              <a:rPr lang="en-US" sz="2000" dirty="0"/>
              <a:t>, making it the primary target for marketing intervention.</a:t>
            </a:r>
          </a:p>
          <a:p>
            <a:r>
              <a:rPr lang="en-US" sz="2000" b="1" dirty="0"/>
              <a:t>Logistics Constraint:</a:t>
            </a:r>
            <a:r>
              <a:rPr lang="en-US" sz="2000" dirty="0"/>
              <a:t> A bar chart clearly shows the average </a:t>
            </a:r>
            <a:r>
              <a:rPr lang="en-US" dirty="0"/>
              <a:t>Shipping Duration</a:t>
            </a:r>
            <a:r>
              <a:rPr lang="en-US" sz="2000" dirty="0"/>
              <a:t> for each </a:t>
            </a:r>
            <a:r>
              <a:rPr lang="en-US" b="1" dirty="0"/>
              <a:t>Ship Mode</a:t>
            </a:r>
            <a:r>
              <a:rPr lang="en-US" sz="2000" dirty="0"/>
              <a:t>, singling out the least efficient option (e.g., Standard Class) that contributes most to the 4-day average.</a:t>
            </a:r>
          </a:p>
          <a:p>
            <a:r>
              <a:rPr lang="en-US" sz="2000" b="1" dirty="0"/>
              <a:t>Product Power:</a:t>
            </a:r>
            <a:r>
              <a:rPr lang="en-US" sz="2000" dirty="0"/>
              <a:t> A </a:t>
            </a:r>
            <a:r>
              <a:rPr lang="en-US" sz="2000" dirty="0" err="1"/>
              <a:t>treemap</a:t>
            </a:r>
            <a:r>
              <a:rPr lang="en-US" sz="2000" dirty="0"/>
              <a:t> shows </a:t>
            </a:r>
            <a:r>
              <a:rPr lang="en-US" sz="2000" b="1" dirty="0"/>
              <a:t>Technology</a:t>
            </a:r>
            <a:r>
              <a:rPr lang="en-US" sz="2000" dirty="0"/>
              <a:t> as the highest revenue driver, while other </a:t>
            </a:r>
            <a:r>
              <a:rPr lang="en-US" dirty="0"/>
              <a:t>Category</a:t>
            </a:r>
            <a:r>
              <a:rPr lang="en-US" sz="2000" dirty="0"/>
              <a:t> types show opportunities for AOV growth.</a:t>
            </a:r>
          </a:p>
          <a:p>
            <a:r>
              <a:rPr lang="en-US" sz="2000" b="1" dirty="0"/>
              <a:t>Customer Segmentation:</a:t>
            </a:r>
            <a:r>
              <a:rPr lang="en-US" sz="2000" dirty="0"/>
              <a:t> A list of top </a:t>
            </a:r>
            <a:r>
              <a:rPr lang="en-US" b="1" dirty="0"/>
              <a:t>Customer ID</a:t>
            </a:r>
            <a:r>
              <a:rPr lang="en-US" sz="2000" dirty="0"/>
              <a:t> ranked by </a:t>
            </a:r>
            <a:r>
              <a:rPr lang="en-US" b="1" dirty="0"/>
              <a:t>Sales</a:t>
            </a:r>
            <a:r>
              <a:rPr lang="en-US" sz="2000" dirty="0"/>
              <a:t> is available, ready for the VIP program.</a:t>
            </a:r>
          </a:p>
        </p:txBody>
      </p:sp>
      <p:pic>
        <p:nvPicPr>
          <p:cNvPr id="120" name="Google Shape;120;p2" title="download.png">
            <a:extLst>
              <a:ext uri="{FF2B5EF4-FFF2-40B4-BE49-F238E27FC236}">
                <a16:creationId xmlns:a16="http://schemas.microsoft.com/office/drawing/2014/main" id="{09237C3F-0FCD-4C82-0FC1-C5A0AEB18EC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9442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Actionable Recommendations: Translating Insights into Strategy</a:t>
            </a: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sz="2000" b="1" dirty="0"/>
              <a:t>1. For Supply Chain Efficiency (Logistics):</a:t>
            </a:r>
            <a:endParaRPr lang="en-US" sz="2000" dirty="0"/>
          </a:p>
          <a:p>
            <a:r>
              <a:rPr lang="en-US" sz="2000" b="1" dirty="0"/>
              <a:t>Recommendation:</a:t>
            </a:r>
            <a:r>
              <a:rPr lang="en-US" sz="2000" dirty="0"/>
              <a:t> Launch an immediate pilot program to analyze and optimize the least efficient </a:t>
            </a:r>
            <a:r>
              <a:rPr lang="en-US" b="1" dirty="0"/>
              <a:t>Ship Mode</a:t>
            </a:r>
            <a:r>
              <a:rPr lang="en-US" sz="2000" dirty="0"/>
              <a:t> in specific, slow-performing </a:t>
            </a:r>
            <a:r>
              <a:rPr lang="en-US" b="1" dirty="0"/>
              <a:t>Cities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Action:</a:t>
            </a:r>
            <a:r>
              <a:rPr lang="en-US" sz="2000" dirty="0"/>
              <a:t> Implement new carrier pickup schedules or adjust internal warehouse processing timelines.</a:t>
            </a:r>
          </a:p>
          <a:p>
            <a:r>
              <a:rPr lang="en-US" sz="2000" b="1" dirty="0"/>
              <a:t>2. For Marketing Optimization (Region):</a:t>
            </a:r>
            <a:endParaRPr lang="en-US" sz="2000" dirty="0"/>
          </a:p>
          <a:p>
            <a:r>
              <a:rPr lang="en-US" sz="2000" b="1" dirty="0"/>
              <a:t>Recommendation:</a:t>
            </a:r>
            <a:r>
              <a:rPr lang="en-US" sz="2000" dirty="0"/>
              <a:t> Reallocate advertising resources strategically: shift budget away from the general </a:t>
            </a:r>
            <a:r>
              <a:rPr lang="en-US" sz="2000" b="1" dirty="0"/>
              <a:t>South region</a:t>
            </a:r>
            <a:r>
              <a:rPr lang="en-US" sz="2000" dirty="0"/>
              <a:t> to targeted campaigns focused on the high-performing </a:t>
            </a:r>
            <a:r>
              <a:rPr lang="en-US" sz="2000" b="1" dirty="0"/>
              <a:t>Technology</a:t>
            </a:r>
            <a:r>
              <a:rPr lang="en-US" sz="2000" dirty="0"/>
              <a:t> </a:t>
            </a:r>
            <a:r>
              <a:rPr lang="en-US" dirty="0"/>
              <a:t>Category</a:t>
            </a:r>
            <a:r>
              <a:rPr lang="en-US" sz="2000" dirty="0"/>
              <a:t>.</a:t>
            </a:r>
          </a:p>
          <a:p>
            <a:r>
              <a:rPr lang="en-US" sz="2000" b="1" dirty="0"/>
              <a:t>Action:</a:t>
            </a:r>
            <a:r>
              <a:rPr lang="en-US" sz="2000" dirty="0"/>
              <a:t> Monitor </a:t>
            </a:r>
            <a:r>
              <a:rPr lang="en-US" dirty="0"/>
              <a:t>Sales</a:t>
            </a:r>
            <a:r>
              <a:rPr lang="en-US" sz="2000" dirty="0"/>
              <a:t> performance in all regions monthly post-reallocation.</a:t>
            </a:r>
          </a:p>
          <a:p>
            <a:r>
              <a:rPr lang="en-US" sz="2000" b="1" dirty="0"/>
              <a:t>3. For Customer Value (Retention):</a:t>
            </a:r>
            <a:endParaRPr lang="en-US" sz="2000" dirty="0"/>
          </a:p>
          <a:p>
            <a:r>
              <a:rPr lang="en-US" sz="2000" b="1" dirty="0"/>
              <a:t>Recommendation:</a:t>
            </a:r>
            <a:r>
              <a:rPr lang="en-US" sz="2000" dirty="0"/>
              <a:t> Formalize and launch a "VIP Customer Program" offering exclusive benefits to the top 10% of customers identified by lifetime </a:t>
            </a:r>
            <a:r>
              <a:rPr lang="en-US" dirty="0"/>
              <a:t>Sales</a:t>
            </a:r>
            <a:r>
              <a:rPr lang="en-US" sz="2000" dirty="0"/>
              <a:t>.</a:t>
            </a:r>
          </a:p>
          <a:p>
            <a:r>
              <a:rPr lang="en-US" sz="2000" b="1" dirty="0"/>
              <a:t>Action:</a:t>
            </a:r>
            <a:r>
              <a:rPr lang="en-US" sz="2000" dirty="0"/>
              <a:t> Develop targeted up-selling campaigns for the high-performing </a:t>
            </a:r>
            <a:r>
              <a:rPr lang="en-US" dirty="0"/>
              <a:t>Category</a:t>
            </a:r>
            <a:r>
              <a:rPr lang="en-US" sz="2000" dirty="0"/>
              <a:t> to this VIP segment.</a:t>
            </a:r>
          </a:p>
        </p:txBody>
      </p:sp>
      <p:pic>
        <p:nvPicPr>
          <p:cNvPr id="130" name="Google Shape;130;p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971365" y="1347629"/>
            <a:ext cx="1051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0D0D0D"/>
              </a:buClr>
              <a:buSzPts val="2400"/>
            </a:pPr>
            <a:r>
              <a:rPr lang="en-US" sz="2400" dirty="0"/>
              <a:t>Expected Outcomes &amp; Benefits: Our Impact on the Business</a:t>
            </a:r>
            <a:endParaRPr sz="2400" b="1" i="0" u="none" strike="noStrike" cap="none" dirty="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971364" y="1817226"/>
            <a:ext cx="10382435" cy="4016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000" b="1" dirty="0"/>
              <a:t>1. Financial Benefits:</a:t>
            </a:r>
            <a:endParaRPr lang="en-US" sz="2000" dirty="0"/>
          </a:p>
          <a:p>
            <a:r>
              <a:rPr lang="en-US" sz="2000" b="1" dirty="0"/>
              <a:t>Increased Profitability:</a:t>
            </a:r>
            <a:r>
              <a:rPr lang="en-US" sz="2000" dirty="0"/>
              <a:t> By optimizing marketing expenditure and reducing costs associated with shipping failure.</a:t>
            </a:r>
          </a:p>
          <a:p>
            <a:r>
              <a:rPr lang="en-US" sz="2000" b="1" dirty="0"/>
              <a:t>Revenue Growth:</a:t>
            </a:r>
            <a:r>
              <a:rPr lang="en-US" sz="2000" dirty="0"/>
              <a:t> Through enhanced customer retention and increased AOV.</a:t>
            </a:r>
          </a:p>
          <a:p>
            <a:r>
              <a:rPr lang="en-US" sz="2000" b="1" dirty="0"/>
              <a:t>2. Operational Benefits:</a:t>
            </a:r>
            <a:endParaRPr lang="en-US" sz="2000" dirty="0"/>
          </a:p>
          <a:p>
            <a:r>
              <a:rPr lang="en-US" sz="2000" b="1" dirty="0"/>
              <a:t>Streamlined Logistics:</a:t>
            </a:r>
            <a:r>
              <a:rPr lang="en-US" sz="2000" dirty="0"/>
              <a:t> Reliable delivery times and reduced operational bottlenecks, moving to a </a:t>
            </a:r>
            <a:r>
              <a:rPr lang="en-US" sz="2000" b="1" dirty="0"/>
              <a:t>&lt; 3 day</a:t>
            </a:r>
            <a:r>
              <a:rPr lang="en-US" sz="2000" dirty="0"/>
              <a:t> average.</a:t>
            </a:r>
          </a:p>
          <a:p>
            <a:r>
              <a:rPr lang="en-US" sz="2000" b="1" dirty="0"/>
              <a:t>Improved Decision-Making:</a:t>
            </a:r>
            <a:r>
              <a:rPr lang="en-US" sz="2000" dirty="0"/>
              <a:t> Real-time, data-driven insights for agile management.</a:t>
            </a:r>
          </a:p>
          <a:p>
            <a:r>
              <a:rPr lang="en-US" sz="2000" b="1" dirty="0"/>
              <a:t>3. Customer-Centric Benefits:</a:t>
            </a:r>
            <a:endParaRPr lang="en-US" sz="2000" dirty="0"/>
          </a:p>
          <a:p>
            <a:r>
              <a:rPr lang="en-US" sz="2000" b="1" dirty="0"/>
              <a:t>Higher Customer Satisfaction:</a:t>
            </a:r>
            <a:r>
              <a:rPr lang="en-US" sz="2000" dirty="0"/>
              <a:t> Due to faster and more reliable deliveries.</a:t>
            </a:r>
          </a:p>
          <a:p>
            <a:r>
              <a:rPr lang="en-US" sz="2000" b="1" dirty="0"/>
              <a:t>Enhanced Customer Loyalty:</a:t>
            </a:r>
            <a:r>
              <a:rPr lang="en-US" sz="2000" dirty="0"/>
              <a:t> Through personalized VIP programs.</a:t>
            </a:r>
          </a:p>
        </p:txBody>
      </p:sp>
      <p:pic>
        <p:nvPicPr>
          <p:cNvPr id="140" name="Google Shape;140;p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26" name="Google Shape;226;p12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12BDE6-606F-4BF5-BBE5-1DD9E8F25738}"/>
              </a:ext>
            </a:extLst>
          </p:cNvPr>
          <p:cNvSpPr txBox="1"/>
          <p:nvPr/>
        </p:nvSpPr>
        <p:spPr>
          <a:xfrm>
            <a:off x="1862612" y="1200779"/>
            <a:ext cx="84667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Questions &amp; Discussion</a:t>
            </a:r>
          </a:p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"Thank you for your time and attention."</a:t>
            </a:r>
          </a:p>
          <a:p>
            <a:endParaRPr lang="en-US" sz="2400" b="1" dirty="0">
              <a:latin typeface="Aref Ruqaa" panose="02000503000000000000" pitchFamily="2" charset="-78"/>
              <a:cs typeface="Aref Ruqaa" panose="02000503000000000000" pitchFamily="2" charset="-78"/>
            </a:endParaRPr>
          </a:p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"We welcome any questions regarding the analysis of the data or the implementation plan.“</a:t>
            </a:r>
          </a:p>
          <a:p>
            <a:endParaRPr lang="en-US" sz="2400" b="1" dirty="0">
              <a:latin typeface="Aref Ruqaa" panose="02000503000000000000" pitchFamily="2" charset="-78"/>
              <a:cs typeface="Aref Ruqaa" panose="02000503000000000000" pitchFamily="2" charset="-78"/>
            </a:endParaRPr>
          </a:p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Contact:</a:t>
            </a:r>
          </a:p>
          <a:p>
            <a:endParaRPr lang="en-US" sz="2400" b="1" dirty="0">
              <a:latin typeface="Aref Ruqaa" panose="02000503000000000000" pitchFamily="2" charset="-78"/>
              <a:cs typeface="Aref Ruqaa" panose="02000503000000000000" pitchFamily="2" charset="-78"/>
            </a:endParaRPr>
          </a:p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Abdalrhman Mohamed Khairy Abdullah</a:t>
            </a:r>
          </a:p>
          <a:p>
            <a:endParaRPr lang="en-US" sz="2400" b="1" dirty="0">
              <a:latin typeface="Aref Ruqaa" panose="02000503000000000000" pitchFamily="2" charset="-78"/>
              <a:cs typeface="Aref Ruqaa" panose="02000503000000000000" pitchFamily="2" charset="-78"/>
            </a:endParaRPr>
          </a:p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Lone Wolf</a:t>
            </a:r>
          </a:p>
          <a:p>
            <a:endParaRPr lang="en-US" sz="2400" b="1" dirty="0">
              <a:latin typeface="Aref Ruqaa" panose="02000503000000000000" pitchFamily="2" charset="-78"/>
              <a:cs typeface="Aref Ruqaa" panose="02000503000000000000" pitchFamily="2" charset="-78"/>
            </a:endParaRPr>
          </a:p>
          <a:p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  <a:hlinkClick r:id="rId4"/>
              </a:rPr>
              <a:t>LinkedIn</a:t>
            </a:r>
            <a:r>
              <a:rPr lang="en-US" sz="2400" b="1" dirty="0">
                <a:latin typeface="Aref Ruqaa" panose="02000503000000000000" pitchFamily="2" charset="-78"/>
                <a:cs typeface="Aref Ruqaa" panose="02000503000000000000" pitchFamily="2" charset="-78"/>
              </a:rPr>
              <a:t> : https://www.linkedin.com/in/abdalrhmanmoham/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999</Words>
  <Application>Microsoft Office PowerPoint</Application>
  <PresentationFormat>Widescreen</PresentationFormat>
  <Paragraphs>103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Aref Ruqaa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Abdalrhman Mohamed Khyri</cp:lastModifiedBy>
  <cp:revision>1</cp:revision>
  <dcterms:created xsi:type="dcterms:W3CDTF">2024-03-14T10:03:54Z</dcterms:created>
  <dcterms:modified xsi:type="dcterms:W3CDTF">2025-11-30T19:48:26Z</dcterms:modified>
</cp:coreProperties>
</file>